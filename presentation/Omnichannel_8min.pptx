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0:00–0:25. Lead with the 9-second pitch verbatim, then: 'In the next 8 minutes I'll show the problem, how it works, and a live demo.' Keep energy high; the demo is the star.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0:25–2:15. Frame the tension: fast AND trustworthy. Hit the two pains (speed + ungoverned AI) and land 'a confident wrong answer is a liability.' Then the one-line solution and the key idea: the answer is never just a number — it's a governed package with an owner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2:15–3:45. One architecture slide. Read the loop quickly, then stress the design principle: the LLM never invents facts — it only phrases proven ones. Name the concepts as you go (RAG, knowledge graph, multi-agent, beam search) so the committee hears the program vocabulary. Mention the free/local fallback so they know the demo is robust.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3:45–4:45. This is what makes it a capstone, not a toy. Each line is an ENFORCED control, not a prompt. Emphasize causal humility (observational data → label likelihood) and human-in-the-loop + read-only = safe to deploy in a governed enterprise. Tease the guardrail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4:45–7:45 (your centerpiece — keep it tight). App already running &amp; warmed up. (1) Run the conversion investigation; narrate the governed steps while the trace streams; land on Business answer → Evidence chart → owner actions + human-review banner. (2) Show the write refusal — fast, always lands. (3) Run ONE briefing to show cross-functional ranking. Have a backup screenshot. If short on time, do #1 and #2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7:45–8:15 (overrun budget). Two evaluation layers: known ground truth + automated gates (data, guardrails, routing). Reproducibility from a fixed seed is itself a governance property. Keep this to ~20 seconds if the demo ran 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8:15–8:30. Close on the opening promise (fast AND trustworthy) and the one-sentence lesson. Give the production path in one line to show it scales. Thank them and open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91440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200" b="1" i="0">
                <a:solidFill>
                  <a:srgbClr val="FFFFFF"/>
                </a:solidFill>
                <a:latin typeface="Segoe UI"/>
              </a:rPr>
              <a:t>Omnichannel Retail Analytics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200" b="0" i="0">
                <a:solidFill>
                  <a:srgbClr val="F1F5F9"/>
                </a:solidFill>
                <a:latin typeface="Segoe UI"/>
              </a:rPr>
              <a:t>A governed AI analyst that tells retail leaders why a KPI moved —</a:t>
            </a:r>
          </a:p>
          <a:p>
            <a:pPr>
              <a:spcAft>
                <a:spcPts val="800"/>
              </a:spcAft>
            </a:pPr>
            <a:r>
              <a:rPr sz="2200" b="0" i="0">
                <a:solidFill>
                  <a:srgbClr val="F1F5F9"/>
                </a:solidFill>
                <a:latin typeface="Segoe UI"/>
              </a:rPr>
              <a:t>across every team, in seconds, using only certified data. It never guesses.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Final Capstone  ·  Carnegie Mellon University  ·  Sreddy  ·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 i="0">
                <a:solidFill>
                  <a:srgbClr val="C41230"/>
                </a:solidFill>
                <a:latin typeface="Segoe UI"/>
              </a:rPr>
              <a:t>PROBLEM →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 i="0">
                <a:solidFill>
                  <a:srgbClr val="1E293B"/>
                </a:solidFill>
                <a:latin typeface="Segoe UI"/>
              </a:rPr>
              <a:t>Fast answers and trustworthy answers — usually you pick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1E293B"/>
                </a:solidFill>
                <a:latin typeface="Segoe UI"/>
              </a:rPr>
              <a:t>•  When a KPI moves, the 'why' spans many teams — marketing, merchandising, fulfillment, service, finance. Today that's a multi-day, multi-team fire drill.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1E293B"/>
                </a:solidFill>
                <a:latin typeface="Segoe UI"/>
              </a:rPr>
              <a:t>•  Generic 'chat-with-your-data' AI is fast but ungoverned: it invents metric definitions, runs arbitrary queries, and asserts causation. A confident wrong answer is a liability.</a:t>
            </a:r>
          </a:p>
          <a:p>
            <a:pPr>
              <a:spcAft>
                <a:spcPts val="1000"/>
              </a:spcAft>
            </a:pPr>
            <a:r>
              <a:rPr sz="1900" b="1" i="0">
                <a:solidFill>
                  <a:srgbClr val="1E293B"/>
                </a:solidFill>
                <a:latin typeface="Segoe UI"/>
              </a:rPr>
              <a:t>•  My solution: a governed multi-agent analyst. Ask in plain English → it retrieves CERTIFIED definitions, runs read-only queries, reasons across domains, and returns:</a:t>
            </a:r>
          </a:p>
          <a:p>
            <a:pPr lvl="1">
              <a:spcAft>
                <a:spcPts val="500"/>
              </a:spcAft>
            </a:pPr>
            <a:r>
              <a:rPr sz="1600" b="0" i="0">
                <a:solidFill>
                  <a:srgbClr val="475569"/>
                </a:solidFill>
                <a:latin typeface="Segoe UI"/>
              </a:rPr>
              <a:t>–  answer + evidence + the definition used + confidence + caveats + an owner-routed action.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1E293B"/>
                </a:solidFill>
                <a:latin typeface="Segoe UI"/>
              </a:rPr>
              <a:t>•  100% free and local — synthetic data, local models, nothing leaves the laptop.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 i="0">
                <a:solidFill>
                  <a:srgbClr val="475569"/>
                </a:solidFill>
                <a:latin typeface="Segoe UI"/>
              </a:rPr>
              <a:t>Omnichannel Retail Analytics Assistant  ·  CMU Capstone  ·  8-min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 i="0">
                <a:solidFill>
                  <a:srgbClr val="475569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 i="0">
                <a:solidFill>
                  <a:srgbClr val="C41230"/>
                </a:solidFill>
                <a:latin typeface="Segoe UI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 i="0">
                <a:solidFill>
                  <a:srgbClr val="1E293B"/>
                </a:solidFill>
                <a:latin typeface="Segoe UI"/>
              </a:rPr>
              <a:t>Governed knowledge + a multi-agent reasoning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1E293B"/>
                </a:solidFill>
                <a:latin typeface="Segoe UI"/>
              </a:rPr>
              <a:t>•  Source of truth: a versioned YAML catalog of certified metrics, approved tables, drivers, and guardrails — queried read-only over 18 tables in DuckDB.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1E293B"/>
                </a:solidFill>
                <a:latin typeface="Segoe UI"/>
              </a:rPr>
              <a:t>•  A LangGraph workflow runs the loop: classify → retrieve (RAG/ChromaDB) → validate (YAML) → relate (NetworkX graph) → dispatch a 7-analyst team in parallel → Critic scores each on a 0–14 rubric → beam search keeps the strongest → human review → answer.</a:t>
            </a:r>
          </a:p>
          <a:p>
            <a:pPr>
              <a:spcAft>
                <a:spcPts val="1000"/>
              </a:spcAft>
            </a:pPr>
            <a:r>
              <a:rPr sz="1900" b="1" i="0">
                <a:solidFill>
                  <a:srgbClr val="1E293B"/>
                </a:solidFill>
                <a:latin typeface="Segoe UI"/>
              </a:rPr>
              <a:t>•  The LLM is on a short leash — it only DRAFTS the prose; every number comes from governed SQL. No model running? A deterministic fallback writes it, so the demo can't break.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 i="0">
                <a:solidFill>
                  <a:srgbClr val="475569"/>
                </a:solidFill>
                <a:latin typeface="Segoe UI"/>
              </a:rPr>
              <a:t>Omnichannel Retail Analytics Assistant  ·  CMU Capstone  ·  8-min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 i="0">
                <a:solidFill>
                  <a:srgbClr val="475569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 i="0">
                <a:solidFill>
                  <a:srgbClr val="C41230"/>
                </a:solidFill>
                <a:latin typeface="Segoe UI"/>
              </a:rPr>
              <a:t>WHY IT'S TRUSTWORTHY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 i="0">
                <a:solidFill>
                  <a:srgbClr val="1E293B"/>
                </a:solidFill>
                <a:latin typeface="Segoe UI"/>
              </a:rPr>
              <a:t>Governance enforced in code — the differentiator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1E293B"/>
                </a:solidFill>
                <a:latin typeface="Segoe UI"/>
              </a:rPr>
              <a:t>•  Read-only guardrail: a SQL validator allows only SELECT over APPROVED tables; any write is blocked before it runs. (I'll show it refuse a write.)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1E293B"/>
                </a:solidFill>
                <a:latin typeface="Segoe UI"/>
              </a:rPr>
              <a:t>•  Certified definitions only — metrics resolve from the versioned, hashed catalog, never invented.</a:t>
            </a:r>
          </a:p>
          <a:p>
            <a:pPr>
              <a:spcAft>
                <a:spcPts val="1000"/>
              </a:spcAft>
            </a:pPr>
            <a:r>
              <a:rPr sz="1900" b="1" i="0">
                <a:solidFill>
                  <a:srgbClr val="1E293B"/>
                </a:solidFill>
                <a:latin typeface="Segoe UI"/>
              </a:rPr>
              <a:t>•  Causality is LABELED, not asserted — 'likely driver' / 'possible contributor', never 'caused'.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1E293B"/>
                </a:solidFill>
                <a:latin typeface="Segoe UI"/>
              </a:rPr>
              <a:t>•  Human-in-the-loop — every recommendation routes to an owner; no system is changed automatically.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1E293B"/>
                </a:solidFill>
                <a:latin typeface="Segoe UI"/>
              </a:rPr>
              <a:t>•  Full audit trail + version/hash on every answer — reproducible and inspectable.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 i="0">
                <a:solidFill>
                  <a:srgbClr val="475569"/>
                </a:solidFill>
                <a:latin typeface="Segoe UI"/>
              </a:rPr>
              <a:t>Omnichannel Retail Analytics Assistant  ·  CMU Capstone  ·  8-min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 i="0">
                <a:solidFill>
                  <a:srgbClr val="475569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91440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41230"/>
                </a:solidFill>
                <a:latin typeface="Segoe UI"/>
              </a:rPr>
              <a:t>LIVE DEMO  ·  ~3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On a seeded 'bad day'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 i="0">
                <a:solidFill>
                  <a:srgbClr val="F1F5F9"/>
                </a:solidFill>
                <a:latin typeface="Segoe UI"/>
              </a:rPr>
              <a:t>1.  'Why did conversion drop yesterday?' — team dispatch, live trace, drivers + evidence chart, owner actions, human-review banner.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F1F5F9"/>
                </a:solidFill>
                <a:latin typeface="Segoe UI"/>
              </a:rPr>
              <a:t>2.  'Update the paid-social budget' — the read-only guardrail refuses.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F1F5F9"/>
                </a:solidFill>
                <a:latin typeface="Segoe UI"/>
              </a:rPr>
              <a:t>3.  An executive briefing — the multi-agent path ranks the biggest cross-functional issues.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 i="0">
                <a:solidFill>
                  <a:srgbClr val="C41230"/>
                </a:solidFill>
                <a:latin typeface="Segoe UI"/>
              </a:rPr>
              <a:t>DOES IT WORK?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 i="0">
                <a:solidFill>
                  <a:srgbClr val="1E293B"/>
                </a:solidFill>
                <a:latin typeface="Segoe UI"/>
              </a:rPr>
              <a:t>Reproducible, validated, and free to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1E293B"/>
                </a:solidFill>
                <a:latin typeface="Segoe UI"/>
              </a:rPr>
              <a:t>•  Seeded ground truth: a fixed-seed world with a known story (conversion down ~23% from a paid-social shift, stockouts, and regional delays) — so I can verify it finds the right drivers.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1E293B"/>
                </a:solidFill>
                <a:latin typeface="Segoe UI"/>
              </a:rPr>
              <a:t>•  Automated checks: 15 data/guardrail/routing validations pass; 25 tests pass; the UI renders all pages with 0 exceptions.</a:t>
            </a:r>
          </a:p>
          <a:p>
            <a:pPr>
              <a:spcAft>
                <a:spcPts val="1000"/>
              </a:spcAft>
            </a:pPr>
            <a:r>
              <a:rPr sz="1900" b="1" i="0">
                <a:solidFill>
                  <a:srgbClr val="1E293B"/>
                </a:solidFill>
                <a:latin typeface="Segoe UI"/>
              </a:rPr>
              <a:t>•  Reproducible by design — same seed, same evidence — and 100% free/local, no paid APIs.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 i="0">
                <a:solidFill>
                  <a:srgbClr val="475569"/>
                </a:solidFill>
                <a:latin typeface="Segoe UI"/>
              </a:rPr>
              <a:t>Omnichannel Retail Analytics Assistant  ·  CMU Capstone  ·  8-min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 i="0">
                <a:solidFill>
                  <a:srgbClr val="475569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 i="0">
                <a:solidFill>
                  <a:srgbClr val="C41230"/>
                </a:solidFill>
                <a:latin typeface="Segoe UI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 i="0">
                <a:solidFill>
                  <a:srgbClr val="1E293B"/>
                </a:solidFill>
                <a:latin typeface="Segoe UI"/>
              </a:rPr>
              <a:t>From a 2-day fire drill to a governed answer in seconds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1E293B"/>
                </a:solidFill>
                <a:latin typeface="Segoe UI"/>
              </a:rPr>
              <a:t>•  Impact: fast AND trustworthy — the tension we started with, resolved.</a:t>
            </a:r>
          </a:p>
          <a:p>
            <a:pPr>
              <a:spcAft>
                <a:spcPts val="1000"/>
              </a:spcAft>
            </a:pPr>
            <a:r>
              <a:rPr sz="1900" b="1" i="0">
                <a:solidFill>
                  <a:srgbClr val="1E293B"/>
                </a:solidFill>
                <a:latin typeface="Segoe UI"/>
              </a:rPr>
              <a:t>•  The lesson: the hard part of agentic AI isn't generating answers — it's governing, evaluating, and observing them.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1E293B"/>
                </a:solidFill>
                <a:latin typeface="Segoe UI"/>
              </a:rPr>
              <a:t>•  Extends to production: swap synthetic data for real warehouse tables behind the same catalog; the governance and reasoning are unchanged.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1E293B"/>
                </a:solidFill>
                <a:latin typeface="Segoe UI"/>
              </a:rPr>
              <a:t>•  Thank you — happy to take questions.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 i="0">
                <a:solidFill>
                  <a:srgbClr val="475569"/>
                </a:solidFill>
                <a:latin typeface="Segoe UI"/>
              </a:rPr>
              <a:t>Omnichannel Retail Analytics Assistant  ·  CMU Capstone  ·  8-min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 i="0">
                <a:solidFill>
                  <a:srgbClr val="475569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